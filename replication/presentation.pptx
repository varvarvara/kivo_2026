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9" r:id="rId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479213a1-292e-d48e-67d1-72fe4f5f2885}">
          <p14:sldIdLst>
            <p14:sldId id="256"/>
            <p14:sldId id="257"/>
          </p14:sldIdLst>
        </p14:section>
        <p14:section name="Данные" id="{cdb02ed8-f040-95ca-9132-f4e8d35beda9}">
          <p14:sldIdLst>
            <p14:sldId id="258"/>
          </p14:sldIdLst>
        </p14:section>
        <p14:section name="Учёба" id="{9dca87d1-9655-ca6e-a3c5-692c7d171aad}">
          <p14:sldIdLst>
            <p14:sldId id="260"/>
            <p14:sldId id="261"/>
            <p14:sldId id="262"/>
            <p14:sldId id="263"/>
          </p14:sldIdLst>
        </p14:section>
        <p14:section name="Польза и цена" id="{17cdfd07-5cef-c691-e759-30dbc5b02884}">
          <p14:sldIdLst>
            <p14:sldId id="264"/>
            <p14:sldId id="265"/>
            <p14:sldId id="266"/>
            <p14:sldId id="267"/>
          </p14:sldIdLst>
        </p14:section>
        <p14:section name="Здоровье и выбывание" id="{2b0fdedb-749e-758f-85bb-2d33ccc2f462}">
          <p14:sldIdLst>
            <p14:sldId id="268"/>
            <p14:sldId id="269"/>
          </p14:sldIdLst>
        </p14:section>
        <p14:section name="Выводы" id="{5539d8b5-685f-6c0d-fb32-eab13d945370}">
          <p14:sldIdLst>
            <p14:sldId id="259"/>
            <p14:sldId id="270"/>
          </p14:sldIdLst>
        </p14:section>
        <p14:section name="Резерв" id="{af933bf1-ad8b-e161-3d02-57e3c8c0b953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Статус занятости, % ответивших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3-я волна</c:v>
                </c:pt>
              </c:strCache>
            </c:strRef>
          </c:tx>
          <c:spPr>
            <a:solidFill>
              <a:srgbClr val="2F6F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Не работает</c:v>
                  </c:pt>
                  <c:pt idx="1">
                    <c:v>Приработки</c:v>
                  </c:pt>
                  <c:pt idx="2">
                    <c:v>Неполный день</c:v>
                  </c:pt>
                  <c:pt idx="3">
                    <c:v>Полный день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19</c:v>
                </c:pt>
                <c:pt idx="2">
                  <c:v>21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4-я волна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Не работает</c:v>
                  </c:pt>
                  <c:pt idx="1">
                    <c:v>Приработки</c:v>
                  </c:pt>
                  <c:pt idx="2">
                    <c:v>Неполный день</c:v>
                  </c:pt>
                  <c:pt idx="3">
                    <c:v>Полный день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51.8</c:v>
                </c:pt>
                <c:pt idx="1">
                  <c:v>18.7</c:v>
                </c:pt>
                <c:pt idx="2">
                  <c:v>20.4</c:v>
                </c:pt>
                <c:pt idx="3">
                  <c:v>9.2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Средняя оценка за сессию (1 — тройки … 4 — пятёрки)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3-я волна</c:v>
                </c:pt>
              </c:strCache>
            </c:strRef>
          </c:tx>
          <c:spPr>
            <a:solidFill>
              <a:srgbClr val="2F6F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Не работает</c:v>
                  </c:pt>
                  <c:pt idx="1">
                    <c:v>Приработки</c:v>
                  </c:pt>
                  <c:pt idx="2">
                    <c:v>Неполный день</c:v>
                  </c:pt>
                  <c:pt idx="3">
                    <c:v>Полный день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2.53</c:v>
                </c:pt>
                <c:pt idx="1">
                  <c:v>2.49</c:v>
                </c:pt>
                <c:pt idx="2">
                  <c:v>2.66</c:v>
                </c:pt>
                <c:pt idx="3">
                  <c:v>2.44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4-я волна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Не работает</c:v>
                  </c:pt>
                  <c:pt idx="1">
                    <c:v>Приработки</c:v>
                  </c:pt>
                  <c:pt idx="2">
                    <c:v>Неполный день</c:v>
                  </c:pt>
                  <c:pt idx="3">
                    <c:v>Полный день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2.75</c:v>
                </c:pt>
                <c:pt idx="1">
                  <c:v>2.6</c:v>
                </c:pt>
                <c:pt idx="2">
                  <c:v>2.69</c:v>
                </c:pt>
                <c:pt idx="3">
                  <c:v>2.63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Доля времени на учёбу в вузе (3-я волна)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на учёбу</c:v>
                </c:pt>
              </c:strCache>
            </c:strRef>
          </c:tx>
          <c:spPr>
            <a:solidFill>
              <a:srgbClr val="B9D3F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3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9F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F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3F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Не работает</c:v>
                  </c:pt>
                  <c:pt idx="1">
                    <c:v>Приработки</c:v>
                  </c:pt>
                  <c:pt idx="2">
                    <c:v>Неполный день</c:v>
                  </c:pt>
                  <c:pt idx="3">
                    <c:v>Полный день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59.2</c:v>
                </c:pt>
                <c:pt idx="1">
                  <c:v>47.1</c:v>
                </c:pt>
                <c:pt idx="2">
                  <c:v>46.5</c:v>
                </c:pt>
                <c:pt idx="3">
                  <c:v>42.3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Средняя оценка у одних и тех же студентов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Не работали ни на 3-м, ни на 4-м курсе (n = 230)</c:v>
                </c:pt>
              </c:strCache>
            </c:strRef>
          </c:tx>
          <c:spPr>
            <a:solidFill>
              <a:srgbClr val="1B3F8F"/>
            </a:solidFill>
            <a:ln w="38100" cap="flat">
              <a:solidFill>
                <a:srgbClr val="1B3F8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B3F8F"/>
              </a:solidFill>
              <a:ln w="9525" cap="flat">
                <a:solidFill>
                  <a:srgbClr val="1B3F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3-й курс</c:v>
                  </c:pt>
                  <c:pt idx="1">
                    <c:v>4-й курс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2.61</c:v>
                </c:pt>
                <c:pt idx="1">
                  <c:v>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Начали работать между курсами (n = 89)</c:v>
                </c:pt>
              </c:strCache>
            </c:strRef>
          </c:tx>
          <c:spPr>
            <a:solidFill>
              <a:srgbClr val="F28C28"/>
            </a:solidFill>
            <a:ln w="3810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3-й курс</c:v>
                  </c:pt>
                  <c:pt idx="1">
                    <c:v>4-й курс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2.49</c:v>
                </c:pt>
                <c:pt idx="1">
                  <c:v>2.67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2"/>
          <c:min val="2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Задумывались об отчислении,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3-я волна</c:v>
                </c:pt>
              </c:strCache>
            </c:strRef>
          </c:tx>
          <c:spPr>
            <a:solidFill>
              <a:srgbClr val="2F6F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Не работает</c:v>
                  </c:pt>
                  <c:pt idx="1">
                    <c:v>Приработки</c:v>
                  </c:pt>
                  <c:pt idx="2">
                    <c:v>Неполный день</c:v>
                  </c:pt>
                  <c:pt idx="3">
                    <c:v>Полный день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40.4</c:v>
                </c:pt>
                <c:pt idx="1">
                  <c:v>52.2</c:v>
                </c:pt>
                <c:pt idx="2">
                  <c:v>47.2</c:v>
                </c:pt>
                <c:pt idx="3">
                  <c:v>53.1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4-я волна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Не работает</c:v>
                  </c:pt>
                  <c:pt idx="1">
                    <c:v>Приработки</c:v>
                  </c:pt>
                  <c:pt idx="2">
                    <c:v>Неполный день</c:v>
                  </c:pt>
                  <c:pt idx="3">
                    <c:v>Полный день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39.3</c:v>
                </c:pt>
                <c:pt idx="1">
                  <c:v>39.8</c:v>
                </c:pt>
                <c:pt idx="2">
                  <c:v>41.9</c:v>
                </c:pt>
                <c:pt idx="3">
                  <c:v>52.4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Назвали «трудности совмещения учёбы и работы»,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3-я волна</c:v>
                </c:pt>
              </c:strCache>
            </c:strRef>
          </c:tx>
          <c:spPr>
            <a:solidFill>
              <a:srgbClr val="2F6F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Не работает</c:v>
                  </c:pt>
                  <c:pt idx="1">
                    <c:v>Приработки</c:v>
                  </c:pt>
                  <c:pt idx="2">
                    <c:v>Неполный день</c:v>
                  </c:pt>
                  <c:pt idx="3">
                    <c:v>Полный день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10.4</c:v>
                </c:pt>
                <c:pt idx="1">
                  <c:v>39</c:v>
                </c:pt>
                <c:pt idx="2">
                  <c:v>50.5</c:v>
                </c:pt>
                <c:pt idx="3">
                  <c:v>70.8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4-я волна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Не работает</c:v>
                  </c:pt>
                  <c:pt idx="1">
                    <c:v>Приработки</c:v>
                  </c:pt>
                  <c:pt idx="2">
                    <c:v>Неполный день</c:v>
                  </c:pt>
                  <c:pt idx="3">
                    <c:v>Полный день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18.1</c:v>
                </c:pt>
                <c:pt idx="1">
                  <c:v>40.6</c:v>
                </c:pt>
                <c:pt idx="2">
                  <c:v>47</c:v>
                </c:pt>
                <c:pt idx="3">
                  <c:v>66.7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Согласны: «опыт работы помогает усваивать материал»,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Согласны</c:v>
                </c:pt>
              </c:strCache>
            </c:strRef>
          </c:tx>
          <c:spPr>
            <a:solidFill>
              <a:srgbClr val="B9D3F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3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9F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F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3F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Совсем не
соответствует</c:v>
                  </c:pt>
                  <c:pt idx="1">
                    <c:v>Скорее не
соответствует</c:v>
                  </c:pt>
                  <c:pt idx="2">
                    <c:v>Скорее
соответствует</c:v>
                  </c:pt>
                  <c:pt idx="3">
                    <c:v>Полностью
соответствует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33.6</c:v>
                </c:pt>
                <c:pt idx="1">
                  <c:v>40.6</c:v>
                </c:pt>
                <c:pt idx="2">
                  <c:v>66.7</c:v>
                </c:pt>
                <c:pt idx="3">
                  <c:v>86.4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Доля согласных по рабочей нагрузке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«Работа помогает учиться»</c:v>
                </c:pt>
              </c:strCache>
            </c:strRef>
          </c:tx>
          <c:spPr>
            <a:solidFill>
              <a:srgbClr val="2F6FD6"/>
            </a:solidFill>
            <a:ln w="25400" cap="flat">
              <a:solidFill>
                <a:srgbClr val="2F6F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F6FD6"/>
              </a:solidFill>
              <a:ln w="9525" cap="flat">
                <a:solidFill>
                  <a:srgbClr val="2F6F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0–10 ч</c:v>
                  </c:pt>
                  <c:pt idx="1">
                    <c:v>11–20 ч</c:v>
                  </c:pt>
                  <c:pt idx="2">
                    <c:v>21–30 ч</c:v>
                  </c:pt>
                  <c:pt idx="3">
                    <c:v>31+ 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49.7</c:v>
                </c:pt>
                <c:pt idx="1">
                  <c:v>64.6</c:v>
                </c:pt>
                <c:pt idx="2">
                  <c:v>62.3</c:v>
                </c:pt>
                <c:pt idx="3">
                  <c:v>59.4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«Из-за работы страдает успеваемость»</c:v>
                </c:pt>
              </c:strCache>
            </c:strRef>
          </c:tx>
          <c:spPr>
            <a:solidFill>
              <a:srgbClr val="E04848"/>
            </a:solidFill>
            <a:ln w="25400" cap="flat">
              <a:solidFill>
                <a:srgbClr val="E048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04848"/>
              </a:solidFill>
              <a:ln w="9525" cap="flat">
                <a:solidFill>
                  <a:srgbClr val="E048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0–10 ч</c:v>
                  </c:pt>
                  <c:pt idx="1">
                    <c:v>11–20 ч</c:v>
                  </c:pt>
                  <c:pt idx="2">
                    <c:v>21–30 ч</c:v>
                  </c:pt>
                  <c:pt idx="3">
                    <c:v>31+ ч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</c:v>
                </c:pt>
                <c:pt idx="1">
                  <c:v>24.6</c:v>
                </c:pt>
                <c:pt idx="2">
                  <c:v>37.1</c:v>
                </c:pt>
                <c:pt idx="3">
                  <c:v>34.4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«Очень трудно совмещать»</c:v>
                </c:pt>
              </c:strCache>
            </c:strRef>
          </c:tx>
          <c:spPr>
            <a:solidFill>
              <a:srgbClr val="F28C28"/>
            </a:solidFill>
            <a:ln w="2540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0–10 ч</c:v>
                  </c:pt>
                  <c:pt idx="1">
                    <c:v>11–20 ч</c:v>
                  </c:pt>
                  <c:pt idx="2">
                    <c:v>21–30 ч</c:v>
                  </c:pt>
                  <c:pt idx="3">
                    <c:v>31+ ч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34.2</c:v>
                </c:pt>
                <c:pt idx="1">
                  <c:v>25</c:v>
                </c:pt>
                <c:pt idx="2">
                  <c:v>32.3</c:v>
                </c:pt>
                <c:pt idx="3">
                  <c:v>49.2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Средние по шкале 1–4, работающие (4-я волна)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Соответствие специальности</c:v>
                </c:pt>
              </c:strCache>
            </c:strRef>
          </c:tx>
          <c:spPr>
            <a:solidFill>
              <a:srgbClr val="1B3F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Получить опыт</c:v>
                  </c:pt>
                  <c:pt idx="1">
                    <c:v>Реализовать интерес</c:v>
                  </c:pt>
                  <c:pt idx="2">
                    <c:v>Доп. доход</c:v>
                  </c:pt>
                  <c:pt idx="3">
                    <c:v>Содержать себя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</c:v>
                </c:pt>
                <c:pt idx="1">
                  <c:v>2.3</c:v>
                </c:pt>
                <c:pt idx="2">
                  <c:v>2.09</c:v>
                </c:pt>
                <c:pt idx="3">
                  <c:v>2.33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«Помогает учиться»</c:v>
                </c:pt>
              </c:strCache>
            </c:strRef>
          </c:tx>
          <c:spPr>
            <a:solidFill>
              <a:srgbClr val="8FB6E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Получить опыт</c:v>
                  </c:pt>
                  <c:pt idx="1">
                    <c:v>Реализовать интерес</c:v>
                  </c:pt>
                  <c:pt idx="2">
                    <c:v>Доп. доход</c:v>
                  </c:pt>
                  <c:pt idx="3">
                    <c:v>Содержать себя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3.11</c:v>
                </c:pt>
                <c:pt idx="1">
                  <c:v>2.75</c:v>
                </c:pt>
                <c:pt idx="2">
                  <c:v>2.47</c:v>
                </c:pt>
                <c:pt idx="3">
                  <c:v>2.54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«Трудно совмещать»</c:v>
                </c:pt>
              </c:strCache>
            </c:strRef>
          </c:tx>
          <c:spPr>
            <a:solidFill>
              <a:srgbClr val="E0484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Получить опыт</c:v>
                  </c:pt>
                  <c:pt idx="1">
                    <c:v>Реализовать интерес</c:v>
                  </c:pt>
                  <c:pt idx="2">
                    <c:v>Доп. доход</c:v>
                  </c:pt>
                  <c:pt idx="3">
                    <c:v>Содержать себя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1.82</c:v>
                </c:pt>
                <c:pt idx="1">
                  <c:v>2.03</c:v>
                </c:pt>
                <c:pt idx="2">
                  <c:v>1.98</c:v>
                </c:pt>
                <c:pt idx="3">
                  <c:v>2.48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Доля студентов,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Не работают</c:v>
                </c:pt>
              </c:strCache>
            </c:strRef>
          </c:tx>
          <c:spPr>
            <a:solidFill>
              <a:srgbClr val="B9D3F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Спорт, 3 в.</c:v>
                  </c:pt>
                  <c:pt idx="1">
                    <c:v>Спорт, 4 в.</c:v>
                  </c:pt>
                  <c:pt idx="2">
                    <c:v>Курение, 3 в.</c:v>
                  </c:pt>
                  <c:pt idx="3">
                    <c:v>Курение, 4 в.</c:v>
                  </c:pt>
                  <c:pt idx="4">
                    <c:v>Алкоголь, 3 в.</c:v>
                  </c:pt>
                  <c:pt idx="5">
                    <c:v>Алкоголь, 4 в.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69.5</c:v>
                </c:pt>
                <c:pt idx="1">
                  <c:v>53.7</c:v>
                </c:pt>
                <c:pt idx="2">
                  <c:v>19.3</c:v>
                </c:pt>
                <c:pt idx="3">
                  <c:v>18.9</c:v>
                </c:pt>
                <c:pt idx="4">
                  <c:v>48.9</c:v>
                </c:pt>
                <c:pt idx="5">
                  <c:v>52.7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Работают</c:v>
                </c:pt>
              </c:strCache>
            </c:strRef>
          </c:tx>
          <c:spPr>
            <a:solidFill>
              <a:srgbClr val="1B3F8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Спорт, 3 в.</c:v>
                  </c:pt>
                  <c:pt idx="1">
                    <c:v>Спорт, 4 в.</c:v>
                  </c:pt>
                  <c:pt idx="2">
                    <c:v>Курение, 3 в.</c:v>
                  </c:pt>
                  <c:pt idx="3">
                    <c:v>Курение, 4 в.</c:v>
                  </c:pt>
                  <c:pt idx="4">
                    <c:v>Алкоголь, 3 в.</c:v>
                  </c:pt>
                  <c:pt idx="5">
                    <c:v>Алкоголь, 4 в.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74.2</c:v>
                </c:pt>
                <c:pt idx="1">
                  <c:v>65.7</c:v>
                </c:pt>
                <c:pt idx="2">
                  <c:v>30.9</c:v>
                </c:pt>
                <c:pt idx="3">
                  <c:v>27.4</c:v>
                </c:pt>
                <c:pt idx="4">
                  <c:v>58.1</c:v>
                </c:pt>
                <c:pt idx="5">
                  <c:v>63.1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Доля участников 3-й волны с ответом о работе в 4-й,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Остались</c:v>
                </c:pt>
              </c:strCache>
            </c:strRef>
          </c:tx>
          <c:spPr>
            <a:solidFill>
              <a:srgbClr val="B9D3F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3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9F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F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3F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DE5C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FCB9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FA85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7A3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Не
работает</c:v>
                  </c:pt>
                  <c:pt idx="1">
                    <c:v>Прира-
ботки</c:v>
                  </c:pt>
                  <c:pt idx="2">
                    <c:v>Неполный
день</c:v>
                  </c:pt>
                  <c:pt idx="3">
                    <c:v>Полный
день</c:v>
                  </c:pt>
                  <c:pt idx="4">
                    <c:v>Тройки</c:v>
                  </c:pt>
                  <c:pt idx="5">
                    <c:v>Четвёрки</c:v>
                  </c:pt>
                  <c:pt idx="6">
                    <c:v>4 и 5</c:v>
                  </c:pt>
                  <c:pt idx="7">
                    <c:v>Пятёрки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50.4</c:v>
                </c:pt>
                <c:pt idx="1">
                  <c:v>42.2</c:v>
                </c:pt>
                <c:pt idx="2">
                  <c:v>42.1</c:v>
                </c:pt>
                <c:pt idx="3">
                  <c:v>40.8</c:v>
                </c:pt>
                <c:pt idx="4">
                  <c:v>39.6</c:v>
                </c:pt>
                <c:pt idx="5">
                  <c:v>39.9</c:v>
                </c:pt>
                <c:pt idx="6">
                  <c:v>51.1</c:v>
                </c:pt>
                <c:pt idx="7">
                  <c:v>50.4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Курят, % по уровню оценок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3-я волна</c:v>
                </c:pt>
              </c:strCache>
            </c:strRef>
          </c:tx>
          <c:spPr>
            <a:solidFill>
              <a:srgbClr val="2F6F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 основном тройки</c:v>
                  </c:pt>
                  <c:pt idx="1">
                    <c:v>В основном четвёрки</c:v>
                  </c:pt>
                  <c:pt idx="2">
                    <c:v>4 и 5</c:v>
                  </c:pt>
                  <c:pt idx="3">
                    <c:v>Только пятёрки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38.6</c:v>
                </c:pt>
                <c:pt idx="1">
                  <c:v>26.1</c:v>
                </c:pt>
                <c:pt idx="2">
                  <c:v>20.3</c:v>
                </c:pt>
                <c:pt idx="3">
                  <c:v>16.8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4-я волна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 основном тройки</c:v>
                  </c:pt>
                  <c:pt idx="1">
                    <c:v>В основном четвёрки</c:v>
                  </c:pt>
                  <c:pt idx="2">
                    <c:v>4 и 5</c:v>
                  </c:pt>
                  <c:pt idx="3">
                    <c:v>Только пятёрки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35.5</c:v>
                </c:pt>
                <c:pt idx="1">
                  <c:v>28</c:v>
                </c:pt>
                <c:pt idx="2">
                  <c:v>20.1</c:v>
                </c:pt>
                <c:pt idx="3">
                  <c:v>13.8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Исследуем, в каких аспектах совмещение учёбы и работы помогает студентам, а в каких создаёт трудности. Данные — 3-я и 4-я волны лонгитюда КИВО, очищенные по протоколу cleaning.ipynb.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условия определяют, поможет работа или помешает: связь со специальностью, нагрузка и мотив. Цифры — 4-я волна, работающие студенты. ×2,5 — OR из analysis.ipynb (Г3.5) при равных часах и соответствии специальности.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Очистка коллеги: участие по фактическим ответам, исключены 574 технических профиля в 4-й волне, часы &gt; 168 считаются невозможными. Работает 44% студентов в 3-й волне и 48% в 4-й.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Подтвердились гипотезы о пользе работы по специальности, о нагрузке и о мотиве. Не подтвердились гипотезы о вреде работы для оценок и о социальном неравенстве в занятости. Г2.3 — направление ожидаемое, но после поправки Холма незначимо.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Парадокс: работающие планируют тратить на учёбу заметно меньше времени, но оценки у них такие же. Объяснения: эффективность, выбор более лёгких путей или грубость шкалы оценок (всего 4 градации).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Панельное сравнение тех же студентов до и после начала работы: изменения оценок, удовлетворённости, сна и мыслей об отчислении не отличаются от изменений у неработавших.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Учёт оценок почти не меняет эффект: если связь существует, она не опосредована успеваемостью. После поправки Холма результат незначим.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 меняет структуру причин: у работающих на первый план выходят трудности совмещения, а академические трудности встречаются реже.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источник пользы — связь работы с будущей профессией. Работающие по специальности также чаще выбрали бы тот же вуз и ту же специальность.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нагрузке больше 30 часов в неделю почти половина говорит, что совмещать очень трудно. Это субъективные оценки — объективные оценки за сессию не падают.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Вынужденная занятость — группа риска: больше часов, ниже связь со специальностью, выше трудности. Мотив опыта даёт пользу в основном через соответствие специальности.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Нельзя мерить работу одной шкалой «хорошо — плохо». Польза определяется соответствием специальности, цена — нагрузкой и мотивом. Работающие студенты 4-й волны, n = 243–440.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Связи занятости с показателями здоровья слабые и разнонаправленные. По данным analysis.ipynb, начали курить 15% начавших работать против 2% оставшихся неработающими (разведочный результат). Сокращение сна наблюдается только в 3-й волне (Г5.1, неустойчиво).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Неслучайное выбывание — важное ограничение для сравнений между волнами. Дальнейший шаг — взвешивание на обратную вероятность выбывания.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Практический вывод для вузов: поддерживать работу по специальности (стажировки, практики) и обращать внимание на студентов, которые вынуждены работать много ради заработка.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Дополнительный слайд. Связь описывает различия между группами и не интерпретируется как причинная.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КИВО · совмещение учёбы и работы · 3-я и 4-я волны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Совмещение учёбы и работы: связь с успеваемостью, образовательным опытом и здоровьем студентов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Лонгитюдное исследование КИВО, 3-я и 4-я волны (2024/25 и 2025/26); N = 2 022 · октябрь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результаты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508760"/>
            <a:ext cx="3502152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badge 1 text"/>
          <p:cNvSpPr txBox="1"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card 1 head"/>
          <p:cNvSpPr txBox="1"/>
          <p:nvPr/>
        </p:nvSpPr>
        <p:spPr>
          <a:xfrm>
            <a:off x="1508760" y="1783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Соответствие специальности</a:t>
            </a:r>
            <a:endParaRPr lang="en-US" sz="1800" dirty="0"/>
          </a:p>
        </p:txBody>
      </p:sp>
      <p:sp>
        <p:nvSpPr>
          <p:cNvPr id="7" name="card 1 stat"/>
          <p:cNvSpPr txBox="1"/>
          <p:nvPr/>
        </p:nvSpPr>
        <p:spPr>
          <a:xfrm>
            <a:off x="82296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800" dirty="0"/>
          </a:p>
        </p:txBody>
      </p:sp>
      <p:sp>
        <p:nvSpPr>
          <p:cNvPr id="8" name="card 1 text"/>
          <p:cNvSpPr txBox="1"/>
          <p:nvPr/>
        </p:nvSpPr>
        <p:spPr>
          <a:xfrm>
            <a:off x="822960" y="361188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отмечают пользу работы для учёбы при полном соответствии специальности (34% при несоответствии)</a:t>
            </a:r>
            <a:endParaRPr lang="en-US" sz="1500" dirty="0"/>
          </a:p>
        </p:txBody>
      </p:sp>
      <p:sp>
        <p:nvSpPr>
          <p:cNvPr id="9" name="card 2"/>
          <p:cNvSpPr/>
          <p:nvPr/>
        </p:nvSpPr>
        <p:spPr>
          <a:xfrm>
            <a:off x="4325112" y="1508760"/>
            <a:ext cx="3502152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4599432" y="17830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badge 2 text"/>
          <p:cNvSpPr txBox="1"/>
          <p:nvPr/>
        </p:nvSpPr>
        <p:spPr>
          <a:xfrm>
            <a:off x="459943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card 2 head"/>
          <p:cNvSpPr txBox="1"/>
          <p:nvPr/>
        </p:nvSpPr>
        <p:spPr>
          <a:xfrm>
            <a:off x="5285232" y="1783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Рабочая нагрузка</a:t>
            </a:r>
            <a:endParaRPr lang="en-US" sz="1800" dirty="0"/>
          </a:p>
        </p:txBody>
      </p:sp>
      <p:sp>
        <p:nvSpPr>
          <p:cNvPr id="13" name="card 2 stat"/>
          <p:cNvSpPr txBox="1"/>
          <p:nvPr/>
        </p:nvSpPr>
        <p:spPr>
          <a:xfrm>
            <a:off x="4599432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4800" dirty="0"/>
          </a:p>
        </p:txBody>
      </p:sp>
      <p:sp>
        <p:nvSpPr>
          <p:cNvPr id="14" name="card 2 text"/>
          <p:cNvSpPr txBox="1"/>
          <p:nvPr/>
        </p:nvSpPr>
        <p:spPr>
          <a:xfrm>
            <a:off x="4599432" y="361188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отмечают выраженные трудности совмещения при нагрузке свыше 30 ч/нед (25% при 11–20 ч/нед)</a:t>
            </a:r>
            <a:endParaRPr lang="en-US" sz="1500" dirty="0"/>
          </a:p>
        </p:txBody>
      </p:sp>
      <p:sp>
        <p:nvSpPr>
          <p:cNvPr id="15" name="card 3"/>
          <p:cNvSpPr/>
          <p:nvPr/>
        </p:nvSpPr>
        <p:spPr>
          <a:xfrm>
            <a:off x="8101584" y="1508760"/>
            <a:ext cx="3502152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6" name="badge 3"/>
          <p:cNvSpPr/>
          <p:nvPr/>
        </p:nvSpPr>
        <p:spPr>
          <a:xfrm>
            <a:off x="8375904" y="17830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badge 3 text"/>
          <p:cNvSpPr txBox="1"/>
          <p:nvPr/>
        </p:nvSpPr>
        <p:spPr>
          <a:xfrm>
            <a:off x="837590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card 3 head"/>
          <p:cNvSpPr txBox="1"/>
          <p:nvPr/>
        </p:nvSpPr>
        <p:spPr>
          <a:xfrm>
            <a:off x="9061704" y="1783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Мотив занятости</a:t>
            </a:r>
            <a:endParaRPr lang="en-US" sz="1800" dirty="0"/>
          </a:p>
        </p:txBody>
      </p:sp>
      <p:sp>
        <p:nvSpPr>
          <p:cNvPr id="19" name="card 3 stat"/>
          <p:cNvSpPr txBox="1"/>
          <p:nvPr/>
        </p:nvSpPr>
        <p:spPr>
          <a:xfrm>
            <a:off x="8375904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 2,5</a:t>
            </a:r>
            <a:endParaRPr lang="en-US" sz="4800" dirty="0"/>
          </a:p>
        </p:txBody>
      </p:sp>
      <p:sp>
        <p:nvSpPr>
          <p:cNvPr id="20" name="card 3 text"/>
          <p:cNvSpPr txBox="1"/>
          <p:nvPr/>
        </p:nvSpPr>
        <p:spPr>
          <a:xfrm>
            <a:off x="8375904" y="361188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трудностей совмещения: мотив «содержать себя» относительно мотива «получить опыт»</a:t>
            </a:r>
            <a:endParaRPr lang="en-US" sz="1500" dirty="0"/>
          </a:p>
        </p:txBody>
      </p:sp>
      <p:sp>
        <p:nvSpPr>
          <p:cNvPr id="21" name="bottom line"/>
          <p:cNvSpPr txBox="1"/>
          <p:nvPr/>
        </p:nvSpPr>
        <p:spPr>
          <a:xfrm>
            <a:off x="548640" y="5074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Связь наличия работы, её формата и объёма с оценками за сессию не выявлена.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и выборка</a:t>
            </a:r>
            <a:endParaRPr lang="en-US" sz="3400" dirty="0"/>
          </a:p>
        </p:txBody>
      </p:sp>
      <p:sp>
        <p:nvSpPr>
          <p:cNvPr id="3" name="stat value"/>
          <p:cNvSpPr txBox="1"/>
          <p:nvPr/>
        </p:nvSpPr>
        <p:spPr>
          <a:xfrm>
            <a:off x="54864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1 224</a:t>
            </a:r>
            <a:endParaRPr lang="en-US" sz="4800" dirty="0"/>
          </a:p>
        </p:txBody>
      </p:sp>
      <p:sp>
        <p:nvSpPr>
          <p:cNvPr id="4" name="stat label"/>
          <p:cNvSpPr txBox="1"/>
          <p:nvPr/>
        </p:nvSpPr>
        <p:spPr>
          <a:xfrm>
            <a:off x="548640" y="2377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участника 3-й волны</a:t>
            </a:r>
            <a:endParaRPr lang="en-US" sz="1400" dirty="0"/>
          </a:p>
        </p:txBody>
      </p:sp>
      <p:sp>
        <p:nvSpPr>
          <p:cNvPr id="5" name="stat value"/>
          <p:cNvSpPr txBox="1"/>
          <p:nvPr/>
        </p:nvSpPr>
        <p:spPr>
          <a:xfrm>
            <a:off x="306324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939</a:t>
            </a:r>
            <a:endParaRPr lang="en-US" sz="4800" dirty="0"/>
          </a:p>
        </p:txBody>
      </p:sp>
      <p:sp>
        <p:nvSpPr>
          <p:cNvPr id="6" name="stat label"/>
          <p:cNvSpPr txBox="1"/>
          <p:nvPr/>
        </p:nvSpPr>
        <p:spPr>
          <a:xfrm>
            <a:off x="3063240" y="2377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участников 4-й волны после очистки</a:t>
            </a:r>
            <a:endParaRPr lang="en-US" sz="1400" dirty="0"/>
          </a:p>
        </p:txBody>
      </p:sp>
      <p:sp>
        <p:nvSpPr>
          <p:cNvPr id="7" name="stat value"/>
          <p:cNvSpPr txBox="1"/>
          <p:nvPr/>
        </p:nvSpPr>
        <p:spPr>
          <a:xfrm>
            <a:off x="548640" y="3474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574</a:t>
            </a:r>
            <a:endParaRPr lang="en-US" sz="4800" dirty="0"/>
          </a:p>
        </p:txBody>
      </p:sp>
      <p:sp>
        <p:nvSpPr>
          <p:cNvPr id="8" name="stat label"/>
          <p:cNvSpPr txBox="1"/>
          <p:nvPr/>
        </p:nvSpPr>
        <p:spPr>
          <a:xfrm>
            <a:off x="548640" y="4389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анкеты 4-й волны исключены как технический сбой</a:t>
            </a:r>
            <a:endParaRPr lang="en-US" sz="1400" dirty="0"/>
          </a:p>
        </p:txBody>
      </p:sp>
      <p:sp>
        <p:nvSpPr>
          <p:cNvPr id="9" name="stat value"/>
          <p:cNvSpPr txBox="1"/>
          <p:nvPr/>
        </p:nvSpPr>
        <p:spPr>
          <a:xfrm>
            <a:off x="3063240" y="3474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566</a:t>
            </a:r>
            <a:endParaRPr lang="en-US" sz="4800" dirty="0"/>
          </a:p>
        </p:txBody>
      </p:sp>
      <p:sp>
        <p:nvSpPr>
          <p:cNvPr id="10" name="stat label"/>
          <p:cNvSpPr txBox="1"/>
          <p:nvPr/>
        </p:nvSpPr>
        <p:spPr>
          <a:xfrm>
            <a:off x="3063240" y="4389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ответили о работе в обеих волнах</a:t>
            </a:r>
            <a:endParaRPr lang="en-US" sz="1400" dirty="0"/>
          </a:p>
        </p:txBody>
      </p:sp>
      <p:graphicFrame>
        <p:nvGraphicFramePr>
          <p:cNvPr id="11" name="chart work share" descr=""/>
          <p:cNvGraphicFramePr/>
          <p:nvPr/>
        </p:nvGraphicFramePr>
        <p:xfrm>
          <a:off x="5852160" y="1371600"/>
          <a:ext cx="5760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Сводка результатов проверки гипотез</a:t>
            </a:r>
            <a:endParaRPr lang="en-US" sz="3400" dirty="0"/>
          </a:p>
        </p:txBody>
      </p:sp>
      <p:graphicFrame>
        <p:nvGraphicFramePr>
          <p:cNvPr id="5" name="hypothe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760720"/>
                <a:gridCol w="2377440"/>
                <a:gridCol w="2194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Гипотеза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Эффект (3-я / 4-я волна)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Вывод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Г3.1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Соответствие специальности → польза для учёбы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2,28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подтверждается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Г3.3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Рабочие часы → трудности совмещения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1,20 / 10 ч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подтверждается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Г3.5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Мотив «содержать себя» → трудности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2,52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подтверждается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Г4.2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Соответствие стажировки → польза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2,94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подтверждается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Г6.2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Намерение искать работу → работа на 4-м курсе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2,81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подтверждается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Г5.1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Рабочие часы → меньше сна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−9 мин / 10 ч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частично (3-я волна)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Г2.3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Полный день → мысли об отчислении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1,81 / 1,77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неустойчиво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Г2.1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Рабочие часы → оценки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1,05 / 0,97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не подтверждается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Г1.3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Достаток семьи → работа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0,99 / 1,07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не подтверждается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Г5.3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Полный день → реже спорт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0,98 / 1,75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не подтверждается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Г7.3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Начало работы → оценки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0,93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не подтверждается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ption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множественное восстановление пропусков, поправка Холма; приведены 11 из 25 гипотез.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Занятость и успеваемость</a:t>
            </a:r>
            <a:endParaRPr lang="en-US" sz="3400" dirty="0"/>
          </a:p>
        </p:txBody>
      </p:sp>
      <p:graphicFrame>
        <p:nvGraphicFramePr>
          <p:cNvPr id="3" name="chart marks" descr=""/>
          <p:cNvGraphicFramePr/>
          <p:nvPr/>
        </p:nvGraphicFramePr>
        <p:xfrm>
          <a:off x="548640" y="2157036"/>
          <a:ext cx="5486400" cy="358200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study time" descr=""/>
          <p:cNvGraphicFramePr/>
          <p:nvPr/>
        </p:nvGraphicFramePr>
        <p:xfrm>
          <a:off x="6309360" y="2157036"/>
          <a:ext cx="5303520" cy="358200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ρ(часы, оценки) ≈ 0; критерий Краскела–Уоллиса: p = 0,22 и 0,45 (оценки), p &lt; 0,001 (доля времени на учёбу).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hypothesis"/>
          <p:cNvSpPr txBox="1"/>
          <p:nvPr/>
        </p:nvSpPr>
        <p:spPr>
          <a:xfrm>
            <a:off x="548640" y="1115568"/>
            <a:ext cx="11064240" cy="841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Г2.1. </a:t>
            </a:r>
            <a:r>
              <a:rPr lang="ru-RU" sz="1200">
                <a:solidFill>
                  <a:srgbClr val="000000"/>
                </a:solidFill>
              </a:rPr>
              <a:t>Среди работающих студентов большее число рабочих часов связано с более низкой категорией оценок по итогам последней сессии. </a:t>
            </a:r>
            <a:r>
              <a:rPr lang="ru-RU" sz="1200" b="1">
                <a:solidFill>
                  <a:srgbClr val="7F7F7F"/>
                </a:solidFill>
              </a:rPr>
              <a:t>— не подтверждается</a:t>
            </a:r>
          </a:p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Г2.2. </a:t>
            </a:r>
            <a:r>
              <a:rPr lang="ru-RU" sz="1200">
                <a:solidFill>
                  <a:srgbClr val="000000"/>
                </a:solidFill>
              </a:rPr>
              <a:t>Среди работающих студентов большее число рабочих часов связано с меньшей удовлетворённостью обучением. </a:t>
            </a:r>
            <a:r>
              <a:rPr lang="ru-RU" sz="1200" b="1">
                <a:solidFill>
                  <a:srgbClr val="7F7F7F"/>
                </a:solidFill>
              </a:rPr>
              <a:t>— не подтверждается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Изменения после начала работы</a:t>
            </a:r>
            <a:endParaRPr lang="en-US" sz="3400" dirty="0"/>
          </a:p>
        </p:txBody>
      </p:sp>
      <p:graphicFrame>
        <p:nvGraphicFramePr>
          <p:cNvPr id="3" name="chart panel marks" descr=""/>
          <p:cNvGraphicFramePr/>
          <p:nvPr/>
        </p:nvGraphicFramePr>
        <p:xfrm>
          <a:off x="548640" y="2157036"/>
          <a:ext cx="5394960" cy="358200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pane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232447"/>
          <a:ext cx="5303520" cy="754106"/>
        </p:xfrm>
        <a:graphic>
          <a:graphicData uri="http://schemas.openxmlformats.org/drawingml/2006/table">
            <a:tbl>
              <a:tblPr/>
              <a:tblGrid>
                <a:gridCol w="2286000"/>
                <a:gridCol w="1234440"/>
                <a:gridCol w="1143000"/>
                <a:gridCol w="640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Изменение к 4-му курсу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Начали работать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Не работали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Оценки, балл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+0,18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+0,19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0,80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Удовлетворённость, балл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−0,05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−0,04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0,61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Сон в будни, ч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+0,34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+0,24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0,64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Мысли об отчислении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−1 п.п.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+2 п.п.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0,56</a:t>
                      </a:r>
                      <a:endParaRPr lang="en-US" sz="14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panel message"/>
          <p:cNvSpPr txBox="1"/>
          <p:nvPr/>
        </p:nvSpPr>
        <p:spPr>
          <a:xfrm>
            <a:off x="6309360" y="4701327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Изменения показателей у начавших работать статистически не отличаются от изменений у студентов, не работавших в обеих волнах.</a:t>
            </a:r>
            <a:endParaRPr lang="en-US" sz="1500" dirty="0"/>
          </a:p>
        </p:txBody>
      </p:sp>
      <p:sp>
        <p:nvSpPr>
          <p:cNvPr id="6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n = 566; критерий Манна–Уитни для разностей между волнами.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hypothesis"/>
          <p:cNvSpPr txBox="1"/>
          <p:nvPr/>
        </p:nvSpPr>
        <p:spPr>
          <a:xfrm>
            <a:off x="548640" y="1115568"/>
            <a:ext cx="11064240" cy="841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Г7.3. </a:t>
            </a:r>
            <a:r>
              <a:rPr lang="ru-RU" sz="1200">
                <a:solidFill>
                  <a:srgbClr val="000000"/>
                </a:solidFill>
              </a:rPr>
              <a:t>Начавшие работать имеют более низкую категорию оценок в четвёртой волне, чем оставшиеся неработающими, при учёте исходных оценок. </a:t>
            </a:r>
            <a:r>
              <a:rPr lang="ru-RU" sz="1200" b="1">
                <a:solidFill>
                  <a:srgbClr val="7F7F7F"/>
                </a:solidFill>
              </a:rPr>
              <a:t>— не подтверждается</a:t>
            </a:r>
          </a:p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Г7.2. </a:t>
            </a:r>
            <a:r>
              <a:rPr lang="ru-RU" sz="1200">
                <a:solidFill>
                  <a:srgbClr val="000000"/>
                </a:solidFill>
              </a:rPr>
              <a:t>Начавшие работать имеют меньшую удовлетворённость обучением в четвёртой волне, чем оставшиеся неработающими, при учёте исходной удовлетворённости. </a:t>
            </a:r>
            <a:r>
              <a:rPr lang="ru-RU" sz="1200" b="1">
                <a:solidFill>
                  <a:srgbClr val="7F7F7F"/>
                </a:solidFill>
              </a:rPr>
              <a:t>— не подтверждается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Занятость и мысли об отчислении</a:t>
            </a:r>
            <a:endParaRPr lang="en-US" sz="3400" dirty="0"/>
          </a:p>
        </p:txBody>
      </p:sp>
      <p:graphicFrame>
        <p:nvGraphicFramePr>
          <p:cNvPr id="3" name="chart dropout" descr=""/>
          <p:cNvGraphicFramePr/>
          <p:nvPr/>
        </p:nvGraphicFramePr>
        <p:xfrm>
          <a:off x="548640" y="1782169"/>
          <a:ext cx="6949440" cy="394539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ropout note"/>
          <p:cNvSpPr/>
          <p:nvPr/>
        </p:nvSpPr>
        <p:spPr>
          <a:xfrm>
            <a:off x="7863840" y="1865230"/>
            <a:ext cx="3749040" cy="3737746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stat value"/>
          <p:cNvSpPr txBox="1"/>
          <p:nvPr/>
        </p:nvSpPr>
        <p:spPr>
          <a:xfrm>
            <a:off x="8138160" y="2072882"/>
            <a:ext cx="3291840" cy="7890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 2,0–2,6</a:t>
            </a:r>
            <a:endParaRPr lang="en-US" sz="4800" dirty="0"/>
          </a:p>
        </p:txBody>
      </p:sp>
      <p:sp>
        <p:nvSpPr>
          <p:cNvPr id="6" name="stat label"/>
          <p:cNvSpPr txBox="1"/>
          <p:nvPr/>
        </p:nvSpPr>
        <p:spPr>
          <a:xfrm>
            <a:off x="8138160" y="2903493"/>
            <a:ext cx="3291840" cy="74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работа полный день относительно отсутствия работы; контроль: пол, форма обучения, направление, достаток, оценки</a:t>
            </a:r>
            <a:endParaRPr lang="en-US" sz="1400" dirty="0"/>
          </a:p>
        </p:txBody>
      </p:sp>
      <p:sp>
        <p:nvSpPr>
          <p:cNvPr id="7" name="dropout caveat"/>
          <p:cNvSpPr txBox="1"/>
          <p:nvPr/>
        </p:nvSpPr>
        <p:spPr>
          <a:xfrm>
            <a:off x="8138160" y="4481652"/>
            <a:ext cx="3291840" cy="996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После поправки Холма связь статистически незначима (OR = 1,8); результат неустойчив.</a:t>
            </a:r>
            <a:endParaRPr lang="en-US" sz="1400" dirty="0"/>
          </a:p>
        </p:txBody>
      </p:sp>
      <p:sp>
        <p:nvSpPr>
          <p:cNvPr id="8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логистическая регрессия, n = 747 и 552.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hypothesis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Г2.3. </a:t>
            </a:r>
            <a:r>
              <a:rPr lang="ru-RU" sz="1200">
                <a:solidFill>
                  <a:srgbClr val="000000"/>
                </a:solidFill>
              </a:rPr>
              <a:t>Работающие полный день чаще неработающих сообщают о мыслях об отчислении за время обучения. </a:t>
            </a:r>
            <a:r>
              <a:rPr lang="ru-RU" sz="1200" b="1">
                <a:solidFill>
                  <a:srgbClr val="7F7F7F"/>
                </a:solidFill>
              </a:rPr>
              <a:t>— не подтверждается (направление ожидаемое, после поправки Холма незначимо)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Причины мыслей об отчислении</a:t>
            </a:r>
            <a:endParaRPr lang="en-US" sz="3400" dirty="0"/>
          </a:p>
        </p:txBody>
      </p:sp>
      <p:graphicFrame>
        <p:nvGraphicFramePr>
          <p:cNvPr id="3" name="chart reasons" descr=""/>
          <p:cNvGraphicFramePr/>
          <p:nvPr/>
        </p:nvGraphicFramePr>
        <p:xfrm>
          <a:off x="548640" y="1782169"/>
          <a:ext cx="6949440" cy="394539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value"/>
          <p:cNvSpPr txBox="1"/>
          <p:nvPr/>
        </p:nvSpPr>
        <p:spPr>
          <a:xfrm>
            <a:off x="8138160" y="2072882"/>
            <a:ext cx="3474720" cy="7890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 / 67%</a:t>
            </a:r>
            <a:endParaRPr lang="en-US" sz="4800" dirty="0"/>
          </a:p>
        </p:txBody>
      </p:sp>
      <p:sp>
        <p:nvSpPr>
          <p:cNvPr id="5" name="stat label"/>
          <p:cNvSpPr txBox="1"/>
          <p:nvPr/>
        </p:nvSpPr>
        <p:spPr>
          <a:xfrm>
            <a:off x="8138160" y="2903493"/>
            <a:ext cx="3474720" cy="74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работающих полный день указывают эту причину (3-я / 4-я волна); среди неработающих — 10–18%</a:t>
            </a:r>
            <a:endParaRPr lang="en-US" sz="1400" dirty="0"/>
          </a:p>
        </p:txBody>
      </p:sp>
      <p:sp>
        <p:nvSpPr>
          <p:cNvPr id="6" name="stat value"/>
          <p:cNvSpPr txBox="1"/>
          <p:nvPr/>
        </p:nvSpPr>
        <p:spPr>
          <a:xfrm>
            <a:off x="8138160" y="3858695"/>
            <a:ext cx="3474720" cy="7890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 10–27</a:t>
            </a:r>
            <a:endParaRPr lang="en-US" sz="4800" dirty="0"/>
          </a:p>
        </p:txBody>
      </p:sp>
      <p:sp>
        <p:nvSpPr>
          <p:cNvPr id="7" name="stat label"/>
          <p:cNvSpPr txBox="1"/>
          <p:nvPr/>
        </p:nvSpPr>
        <p:spPr>
          <a:xfrm>
            <a:off x="8138160" y="4689305"/>
            <a:ext cx="3474720" cy="74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работа полный день относительно отсутствия работы, с контрольными переменными</a:t>
            </a:r>
            <a:endParaRPr lang="en-US" sz="1400" dirty="0"/>
          </a:p>
        </p:txBody>
      </p:sp>
      <p:sp>
        <p:nvSpPr>
          <p:cNvPr id="8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задумывавшиеся об отчислении и указавшие хотя бы одну причину; p ≤ 0,001.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hypothesis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Г2.4. </a:t>
            </a:r>
            <a:r>
              <a:rPr lang="ru-RU" sz="1200">
                <a:solidFill>
                  <a:srgbClr val="000000"/>
                </a:solidFill>
              </a:rPr>
              <a:t>Среди работающих студентов, задумывавшихся об отчислении, большее число рабочих часов связано с большей вероятностью назвать трудности совмещения причиной этих мыслей. </a:t>
            </a:r>
            <a:r>
              <a:rPr lang="ru-RU" sz="1200" b="1">
                <a:solidFill>
                  <a:srgbClr val="7F7F7F"/>
                </a:solidFill>
              </a:rPr>
              <a:t>— не подтверждается (направление ожидаемое, после поправки Холма незначимо)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Соответствие специальности и польза работы</a:t>
            </a:r>
            <a:endParaRPr lang="en-US" sz="3400" dirty="0"/>
          </a:p>
        </p:txBody>
      </p:sp>
      <p:graphicFrame>
        <p:nvGraphicFramePr>
          <p:cNvPr id="3" name="chart fit" descr=""/>
          <p:cNvGraphicFramePr/>
          <p:nvPr/>
        </p:nvGraphicFramePr>
        <p:xfrm>
          <a:off x="548640" y="2157036"/>
          <a:ext cx="6949440" cy="358200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value"/>
          <p:cNvSpPr txBox="1"/>
          <p:nvPr/>
        </p:nvSpPr>
        <p:spPr>
          <a:xfrm>
            <a:off x="8138160" y="2420974"/>
            <a:ext cx="3474720" cy="7164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800" dirty="0"/>
          </a:p>
        </p:txBody>
      </p:sp>
      <p:sp>
        <p:nvSpPr>
          <p:cNvPr id="5" name="stat label"/>
          <p:cNvSpPr txBox="1"/>
          <p:nvPr/>
        </p:nvSpPr>
        <p:spPr>
          <a:xfrm>
            <a:off x="8138160" y="3175080"/>
            <a:ext cx="3474720" cy="67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 полном соответствии специальности; 34% при полном несоответствии</a:t>
            </a:r>
            <a:endParaRPr lang="en-US" sz="1400" dirty="0"/>
          </a:p>
        </p:txBody>
      </p:sp>
      <p:sp>
        <p:nvSpPr>
          <p:cNvPr id="6" name="stat value"/>
          <p:cNvSpPr txBox="1"/>
          <p:nvPr/>
        </p:nvSpPr>
        <p:spPr>
          <a:xfrm>
            <a:off x="8138160" y="4042303"/>
            <a:ext cx="3474720" cy="7164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0,48</a:t>
            </a:r>
            <a:endParaRPr lang="en-US" sz="4800" dirty="0"/>
          </a:p>
        </p:txBody>
      </p:sp>
      <p:sp>
        <p:nvSpPr>
          <p:cNvPr id="7" name="stat label"/>
          <p:cNvSpPr txBox="1"/>
          <p:nvPr/>
        </p:nvSpPr>
        <p:spPr>
          <a:xfrm>
            <a:off x="8138160" y="4796410"/>
            <a:ext cx="3474720" cy="67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наиболее сильная связь среди рассмотренных переменных; для стажировок OR = 2,94 (Г4.2)</a:t>
            </a:r>
            <a:endParaRPr lang="en-US" sz="1400" dirty="0"/>
          </a:p>
        </p:txBody>
      </p:sp>
      <p:sp>
        <p:nvSpPr>
          <p:cNvPr id="8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работающие, 4-я волна, n = 397; Г3.1: OR = 2,28 на пункт шкалы соответствия.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hypothesis"/>
          <p:cNvSpPr txBox="1"/>
          <p:nvPr/>
        </p:nvSpPr>
        <p:spPr>
          <a:xfrm>
            <a:off x="548640" y="1115568"/>
            <a:ext cx="11064240" cy="841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Г3.1. </a:t>
            </a:r>
            <a:r>
              <a:rPr lang="ru-RU" sz="1200">
                <a:solidFill>
                  <a:srgbClr val="000000"/>
                </a:solidFill>
              </a:rPr>
              <a:t>Большее соответствие работы специальности связано с большей воспринимаемой пользой работы для усвоения учебного материала. </a:t>
            </a:r>
            <a:r>
              <a:rPr lang="ru-RU" sz="1200" b="1">
                <a:solidFill>
                  <a:srgbClr val="2F6FD6"/>
                </a:solidFill>
              </a:rPr>
              <a:t>— подтверждается</a:t>
            </a:r>
          </a:p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Г4.2. </a:t>
            </a:r>
            <a:r>
              <a:rPr lang="ru-RU" sz="1200">
                <a:solidFill>
                  <a:srgbClr val="000000"/>
                </a:solidFill>
              </a:rPr>
              <a:t>Большее соответствие стажировки направлению обучения связано с большей воспринимаемой пользой стажировки для усвоения учебного материала. </a:t>
            </a:r>
            <a:r>
              <a:rPr lang="ru-RU" sz="1200" b="1">
                <a:solidFill>
                  <a:srgbClr val="2F6FD6"/>
                </a:solidFill>
              </a:rPr>
              <a:t>— подтверждается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Нагрузка и оценка совмещения</a:t>
            </a:r>
            <a:endParaRPr lang="en-US" sz="3400" dirty="0"/>
          </a:p>
        </p:txBody>
      </p:sp>
      <p:graphicFrame>
        <p:nvGraphicFramePr>
          <p:cNvPr id="3" name="chart hours" descr=""/>
          <p:cNvGraphicFramePr/>
          <p:nvPr/>
        </p:nvGraphicFramePr>
        <p:xfrm>
          <a:off x="548640" y="1782169"/>
          <a:ext cx="7498080" cy="394539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alance note"/>
          <p:cNvSpPr/>
          <p:nvPr/>
        </p:nvSpPr>
        <p:spPr>
          <a:xfrm>
            <a:off x="8412480" y="1865230"/>
            <a:ext cx="3200400" cy="3737746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5" name="balance head"/>
          <p:cNvSpPr txBox="1"/>
          <p:nvPr/>
        </p:nvSpPr>
        <p:spPr>
          <a:xfrm>
            <a:off x="8686800" y="2072882"/>
            <a:ext cx="2743200" cy="41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Нагрузка</a:t>
            </a:r>
            <a:endParaRPr lang="en-US" sz="1800" dirty="0"/>
          </a:p>
        </p:txBody>
      </p:sp>
      <p:sp>
        <p:nvSpPr>
          <p:cNvPr id="6" name="stat value"/>
          <p:cNvSpPr txBox="1"/>
          <p:nvPr/>
        </p:nvSpPr>
        <p:spPr>
          <a:xfrm>
            <a:off x="8686800" y="2488188"/>
            <a:ext cx="2743200" cy="7890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11–20 ч</a:t>
            </a:r>
            <a:endParaRPr lang="en-US" sz="4800" dirty="0"/>
          </a:p>
        </p:txBody>
      </p:sp>
      <p:sp>
        <p:nvSpPr>
          <p:cNvPr id="7" name="stat label"/>
          <p:cNvSpPr txBox="1"/>
          <p:nvPr/>
        </p:nvSpPr>
        <p:spPr>
          <a:xfrm>
            <a:off x="8686800" y="3318798"/>
            <a:ext cx="2743200" cy="74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неделю: наименьшая доля указаний на ущерб успеваемости (25%) при близкой к максимальной оценке пользы</a:t>
            </a:r>
            <a:endParaRPr lang="en-US" sz="1400" dirty="0"/>
          </a:p>
        </p:txBody>
      </p:sp>
      <p:sp>
        <p:nvSpPr>
          <p:cNvPr id="8" name="balance footnote"/>
          <p:cNvSpPr txBox="1"/>
          <p:nvPr/>
        </p:nvSpPr>
        <p:spPr>
          <a:xfrm>
            <a:off x="8686800" y="4606244"/>
            <a:ext cx="2743200" cy="747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Оценки за сессию по группам нагрузки не различаются (p = 0,86).</a:t>
            </a:r>
            <a:endParaRPr lang="en-US" sz="1400" dirty="0"/>
          </a:p>
        </p:txBody>
      </p:sp>
      <p:sp>
        <p:nvSpPr>
          <p:cNvPr id="9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работающие, 4-я волна, n ≈ 400; Краскел–Уоллис: p = 0,037; 0,003; 0,001. Г3.3: OR = 1,20 на 10 ч.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hypothesis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Г3.3. </a:t>
            </a:r>
            <a:r>
              <a:rPr lang="ru-RU" sz="1200">
                <a:solidFill>
                  <a:srgbClr val="000000"/>
                </a:solidFill>
              </a:rPr>
              <a:t>Большее число рабочих часов связано с большими воспринимаемыми трудностями совмещения. </a:t>
            </a:r>
            <a:r>
              <a:rPr lang="ru-RU" sz="1200" b="1">
                <a:solidFill>
                  <a:srgbClr val="2F6FD6"/>
                </a:solidFill>
              </a:rPr>
              <a:t>— подтверждается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Мотив занятости и трудности совмещения</a:t>
            </a:r>
            <a:endParaRPr lang="en-US" sz="3400" dirty="0"/>
          </a:p>
        </p:txBody>
      </p:sp>
      <p:graphicFrame>
        <p:nvGraphicFramePr>
          <p:cNvPr id="3" name="chart motives" descr=""/>
          <p:cNvGraphicFramePr/>
          <p:nvPr/>
        </p:nvGraphicFramePr>
        <p:xfrm>
          <a:off x="548640" y="2157036"/>
          <a:ext cx="7498080" cy="358200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value"/>
          <p:cNvSpPr txBox="1"/>
          <p:nvPr/>
        </p:nvSpPr>
        <p:spPr>
          <a:xfrm>
            <a:off x="8412480" y="2420974"/>
            <a:ext cx="3200400" cy="7164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 2,5</a:t>
            </a:r>
            <a:endParaRPr lang="en-US" sz="4800" dirty="0"/>
          </a:p>
        </p:txBody>
      </p:sp>
      <p:sp>
        <p:nvSpPr>
          <p:cNvPr id="5" name="stat label"/>
          <p:cNvSpPr txBox="1"/>
          <p:nvPr/>
        </p:nvSpPr>
        <p:spPr>
          <a:xfrm>
            <a:off x="8412480" y="3175080"/>
            <a:ext cx="3200400" cy="67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для оценки трудностей при мотиве «содержать себя»; контроль: часы, соответствие специальности</a:t>
            </a:r>
            <a:endParaRPr lang="en-US" sz="1400" dirty="0"/>
          </a:p>
        </p:txBody>
      </p:sp>
      <p:sp>
        <p:nvSpPr>
          <p:cNvPr id="6" name="stat value"/>
          <p:cNvSpPr txBox="1"/>
          <p:nvPr/>
        </p:nvSpPr>
        <p:spPr>
          <a:xfrm>
            <a:off x="8412480" y="4042303"/>
            <a:ext cx="3200400" cy="7164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</a:t>
            </a:r>
            <a:endParaRPr lang="en-US" sz="4800" dirty="0"/>
          </a:p>
        </p:txBody>
      </p:sp>
      <p:sp>
        <p:nvSpPr>
          <p:cNvPr id="7" name="stat label"/>
          <p:cNvSpPr txBox="1"/>
          <p:nvPr/>
        </p:nvSpPr>
        <p:spPr>
          <a:xfrm>
            <a:off x="8412480" y="4796410"/>
            <a:ext cx="3200400" cy="67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среднее соответствие специальности (шкала 1–4) при мотиве «получить опыт»</a:t>
            </a:r>
            <a:endParaRPr lang="en-US" sz="1400" dirty="0"/>
          </a:p>
        </p:txBody>
      </p:sp>
      <p:sp>
        <p:nvSpPr>
          <p:cNvPr id="8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Краскел–Уоллис, p ≤ 0,002; Г3.5: OR = 2,52; Г3.4 не подтверждается.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hypothesis"/>
          <p:cNvSpPr txBox="1"/>
          <p:nvPr/>
        </p:nvSpPr>
        <p:spPr>
          <a:xfrm>
            <a:off x="548640" y="1115568"/>
            <a:ext cx="11064240" cy="841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Г3.5. </a:t>
            </a:r>
            <a:r>
              <a:rPr lang="ru-RU" sz="1200">
                <a:solidFill>
                  <a:srgbClr val="000000"/>
                </a:solidFill>
              </a:rPr>
              <a:t>Работающие для содержания себя или оплаты обучения сообщают о больших трудностях совмещения, чем работающие ради опыта или интереса к сфере. </a:t>
            </a:r>
            <a:r>
              <a:rPr lang="ru-RU" sz="1200" b="1">
                <a:solidFill>
                  <a:srgbClr val="2F6FD6"/>
                </a:solidFill>
              </a:rPr>
              <a:t>— подтверждается</a:t>
            </a:r>
          </a:p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Г3.4. </a:t>
            </a:r>
            <a:r>
              <a:rPr lang="ru-RU" sz="1200">
                <a:solidFill>
                  <a:srgbClr val="000000"/>
                </a:solidFill>
              </a:rPr>
              <a:t>Работающие ради опыта или интереса к сфере чаще отмечают пользу работы для усвоения учебного материала, чем работающие для содержания себя или оплаты обучения. </a:t>
            </a:r>
            <a:r>
              <a:rPr lang="ru-RU" sz="1200" b="1">
                <a:solidFill>
                  <a:srgbClr val="7F7F7F"/>
                </a:solidFill>
              </a:rPr>
              <a:t>— не подтверждается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Корреляции субъективных оценок работы</a:t>
            </a:r>
            <a:endParaRPr lang="en-US" sz="3400" dirty="0"/>
          </a:p>
        </p:txBody>
      </p:sp>
      <p:pic>
        <p:nvPicPr>
          <p:cNvPr id="3" name="heatmap" descr="Тепловая карта корреляций Спирмена между часами работы, оценками, удовлетворённостью, мыслями об отчислении, сном, соответствием специальности, пользой, вредом и трудностью совмещени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64208"/>
            <a:ext cx="5991472" cy="4599432"/>
          </a:xfrm>
          <a:prstGeom prst="rect">
            <a:avLst/>
          </a:prstGeom>
        </p:spPr>
      </p:pic>
      <p:sp>
        <p:nvSpPr>
          <p:cNvPr id="4" name="axis Польза"/>
          <p:cNvSpPr/>
          <p:nvPr/>
        </p:nvSpPr>
        <p:spPr>
          <a:xfrm>
            <a:off x="7132320" y="1865230"/>
            <a:ext cx="4480560" cy="1453568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axis Польза head"/>
          <p:cNvSpPr txBox="1"/>
          <p:nvPr/>
        </p:nvSpPr>
        <p:spPr>
          <a:xfrm>
            <a:off x="7406640" y="2031352"/>
            <a:ext cx="1828800" cy="41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Польза</a:t>
            </a:r>
            <a:endParaRPr lang="en-US" sz="2000" dirty="0"/>
          </a:p>
        </p:txBody>
      </p:sp>
      <p:sp>
        <p:nvSpPr>
          <p:cNvPr id="6" name="axis Польза rho"/>
          <p:cNvSpPr txBox="1"/>
          <p:nvPr/>
        </p:nvSpPr>
        <p:spPr>
          <a:xfrm>
            <a:off x="9326880" y="2031352"/>
            <a:ext cx="2011680" cy="41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0,48</a:t>
            </a:r>
            <a:endParaRPr lang="en-US" sz="2400" dirty="0"/>
          </a:p>
        </p:txBody>
      </p:sp>
      <p:sp>
        <p:nvSpPr>
          <p:cNvPr id="7" name="axis Польза text"/>
          <p:cNvSpPr txBox="1"/>
          <p:nvPr/>
        </p:nvSpPr>
        <p:spPr>
          <a:xfrm>
            <a:off x="7406640" y="2529718"/>
            <a:ext cx="3931920" cy="66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соответствие специальности и «помогает учиться»</a:t>
            </a:r>
            <a:endParaRPr lang="en-US" sz="1500" dirty="0"/>
          </a:p>
        </p:txBody>
      </p:sp>
      <p:sp>
        <p:nvSpPr>
          <p:cNvPr id="8" name="axis Цена"/>
          <p:cNvSpPr/>
          <p:nvPr/>
        </p:nvSpPr>
        <p:spPr>
          <a:xfrm>
            <a:off x="7132320" y="3484920"/>
            <a:ext cx="4480560" cy="1453568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9" name="axis Цена head"/>
          <p:cNvSpPr txBox="1"/>
          <p:nvPr/>
        </p:nvSpPr>
        <p:spPr>
          <a:xfrm>
            <a:off x="7406640" y="3651042"/>
            <a:ext cx="1828800" cy="41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Трудности</a:t>
            </a:r>
            <a:endParaRPr lang="en-US" sz="2000" dirty="0"/>
          </a:p>
        </p:txBody>
      </p:sp>
      <p:sp>
        <p:nvSpPr>
          <p:cNvPr id="10" name="axis Цена rho"/>
          <p:cNvSpPr txBox="1"/>
          <p:nvPr/>
        </p:nvSpPr>
        <p:spPr>
          <a:xfrm>
            <a:off x="9326880" y="3651042"/>
            <a:ext cx="2011680" cy="41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0,65</a:t>
            </a:r>
            <a:endParaRPr lang="en-US" sz="2400" dirty="0"/>
          </a:p>
        </p:txBody>
      </p:sp>
      <p:sp>
        <p:nvSpPr>
          <p:cNvPr id="11" name="axis Цена text"/>
          <p:cNvSpPr txBox="1"/>
          <p:nvPr/>
        </p:nvSpPr>
        <p:spPr>
          <a:xfrm>
            <a:off x="7406640" y="4149408"/>
            <a:ext cx="3931920" cy="66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«страдает успеваемость» и «трудно совмещать»</a:t>
            </a:r>
            <a:endParaRPr lang="en-US" sz="1500" dirty="0"/>
          </a:p>
        </p:txBody>
      </p:sp>
      <p:sp>
        <p:nvSpPr>
          <p:cNvPr id="12" name="axes summary"/>
          <p:cNvSpPr txBox="1"/>
          <p:nvPr/>
        </p:nvSpPr>
        <p:spPr>
          <a:xfrm>
            <a:off x="7132320" y="51206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Корреляция между оценками пользы и трудностей близка к нулю. Трудности совмещения связаны с оценками (ρ = −0,21) и мыслями об отчислении (ρ = 0,24).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hypothesis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Г3.2. </a:t>
            </a:r>
            <a:r>
              <a:rPr lang="ru-RU" sz="1200">
                <a:solidFill>
                  <a:srgbClr val="000000"/>
                </a:solidFill>
              </a:rPr>
              <a:t>Большее соответствие работы специальности связано с меньшим согласием с утверждением, что из-за работы страдает успеваемость. </a:t>
            </a:r>
            <a:r>
              <a:rPr lang="ru-RU" sz="1200" b="1">
                <a:solidFill>
                  <a:srgbClr val="7F7F7F"/>
                </a:solidFill>
              </a:rPr>
              <a:t>— не подтверждается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Занятость и показатели здоровья</a:t>
            </a:r>
            <a:endParaRPr lang="en-US" sz="3400" dirty="0"/>
          </a:p>
        </p:txBody>
      </p:sp>
      <p:graphicFrame>
        <p:nvGraphicFramePr>
          <p:cNvPr id="3" name="chart health" descr=""/>
          <p:cNvGraphicFramePr/>
          <p:nvPr/>
        </p:nvGraphicFramePr>
        <p:xfrm>
          <a:off x="548640" y="2157036"/>
          <a:ext cx="7498080" cy="358200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value"/>
          <p:cNvSpPr txBox="1"/>
          <p:nvPr/>
        </p:nvSpPr>
        <p:spPr>
          <a:xfrm>
            <a:off x="8412480" y="2420974"/>
            <a:ext cx="3200400" cy="7164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 мин</a:t>
            </a:r>
            <a:endParaRPr lang="en-US" sz="4800" dirty="0"/>
          </a:p>
        </p:txBody>
      </p:sp>
      <p:sp>
        <p:nvSpPr>
          <p:cNvPr id="5" name="stat label"/>
          <p:cNvSpPr txBox="1"/>
          <p:nvPr/>
        </p:nvSpPr>
        <p:spPr>
          <a:xfrm>
            <a:off x="8412480" y="3175080"/>
            <a:ext cx="3200400" cy="67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продолжительность сна в будни у работающих, 3-я волна (полный день: −46 мин); в 4-й волне различие незначимо</a:t>
            </a:r>
            <a:endParaRPr lang="en-US" sz="1400" dirty="0"/>
          </a:p>
        </p:txBody>
      </p:sp>
      <p:sp>
        <p:nvSpPr>
          <p:cNvPr id="6" name="stat value"/>
          <p:cNvSpPr txBox="1"/>
          <p:nvPr/>
        </p:nvSpPr>
        <p:spPr>
          <a:xfrm>
            <a:off x="8412480" y="4042303"/>
            <a:ext cx="3200400" cy="7164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 1,5</a:t>
            </a:r>
            <a:endParaRPr lang="en-US" sz="4800" dirty="0"/>
          </a:p>
        </p:txBody>
      </p:sp>
      <p:sp>
        <p:nvSpPr>
          <p:cNvPr id="7" name="stat label"/>
          <p:cNvSpPr txBox="1"/>
          <p:nvPr/>
        </p:nvSpPr>
        <p:spPr>
          <a:xfrm>
            <a:off x="8412480" y="4796410"/>
            <a:ext cx="3200400" cy="67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для занятий спортом у работающих, 4-я волна, с контрольными переменными</a:t>
            </a:r>
            <a:endParaRPr lang="en-US" sz="1400" dirty="0"/>
          </a:p>
        </p:txBody>
      </p:sp>
      <p:sp>
        <p:nvSpPr>
          <p:cNvPr id="8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различия по курению и алкоголю значимы в обеих волнах (V = 0,10–0,15). Прямые показатели здоровья в анкете отсутствуют.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hypothesis"/>
          <p:cNvSpPr txBox="1"/>
          <p:nvPr/>
        </p:nvSpPr>
        <p:spPr>
          <a:xfrm>
            <a:off x="548640" y="1115568"/>
            <a:ext cx="11064240" cy="841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Г5.1. </a:t>
            </a:r>
            <a:r>
              <a:rPr lang="ru-RU" sz="1200">
                <a:solidFill>
                  <a:srgbClr val="000000"/>
                </a:solidFill>
              </a:rPr>
              <a:t>Среди работающих студентов большее число рабочих часов связано с более коротким ночным интервалом сна в будни. </a:t>
            </a:r>
            <a:r>
              <a:rPr lang="ru-RU" sz="1200" b="1">
                <a:solidFill>
                  <a:srgbClr val="F28C28"/>
                </a:solidFill>
              </a:rPr>
              <a:t>— частично (только 3-я волна)</a:t>
            </a:r>
          </a:p>
          <a:p>
            <a:pPr>
              <a:spcAft>
                <a:spcPts val="300"/>
              </a:spcAft>
            </a:pPr>
            <a:r>
              <a:rPr lang="ru-RU" sz="1200" b="1">
                <a:solidFill>
                  <a:srgbClr val="000000"/>
                </a:solidFill>
              </a:rPr>
              <a:t>Г5.3. </a:t>
            </a:r>
            <a:r>
              <a:rPr lang="ru-RU" sz="1200">
                <a:solidFill>
                  <a:srgbClr val="000000"/>
                </a:solidFill>
              </a:rPr>
              <a:t>Работающие полный день реже неработающих сообщают о занятиях спортом или физкультурой. </a:t>
            </a:r>
            <a:r>
              <a:rPr lang="ru-RU" sz="1200" b="1">
                <a:solidFill>
                  <a:srgbClr val="7F7F7F"/>
                </a:solidFill>
              </a:rPr>
              <a:t>— не подтверждается (в 4-й волне связь обратная)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Выбывание участников между волнами</a:t>
            </a:r>
            <a:endParaRPr lang="en-US" sz="3400" dirty="0"/>
          </a:p>
        </p:txBody>
      </p:sp>
      <p:graphicFrame>
        <p:nvGraphicFramePr>
          <p:cNvPr id="3" name="chart attrition" descr=""/>
          <p:cNvGraphicFramePr/>
          <p:nvPr/>
        </p:nvGraphicFramePr>
        <p:xfrm>
          <a:off x="548640" y="1371600"/>
          <a:ext cx="74980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value"/>
          <p:cNvSpPr txBox="1"/>
          <p:nvPr/>
        </p:nvSpPr>
        <p:spPr>
          <a:xfrm>
            <a:off x="8412480" y="1691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4800" dirty="0"/>
          </a:p>
        </p:txBody>
      </p:sp>
      <p:sp>
        <p:nvSpPr>
          <p:cNvPr id="5" name="stat label"/>
          <p:cNvSpPr txBox="1"/>
          <p:nvPr/>
        </p:nvSpPr>
        <p:spPr>
          <a:xfrm>
            <a:off x="8412480" y="2606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участников 3-й волны ответили о работе в 4-й волне</a:t>
            </a:r>
            <a:endParaRPr lang="en-US" sz="1400" dirty="0"/>
          </a:p>
        </p:txBody>
      </p:sp>
      <p:sp>
        <p:nvSpPr>
          <p:cNvPr id="6" name="attrition text"/>
          <p:cNvSpPr txBox="1"/>
          <p:nvPr/>
        </p:nvSpPr>
        <p:spPr>
          <a:xfrm>
            <a:off x="8412480" y="36576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Вероятность остаться ниже у работавших (OR = 0,69) и выше у более успевающих (OR = 1,16); оценки различий в 4-й волне могут быть смещены.</a:t>
            </a:r>
            <a:endParaRPr lang="en-US" sz="1500" dirty="0"/>
          </a:p>
        </p:txBody>
      </p:sp>
      <p:sp>
        <p:nvSpPr>
          <p:cNvPr id="7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логистическая регрессия; p = 0,006 и 0,035.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3" name="badg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" name="badge 1 text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akeaway 1"/>
          <p:cNvSpPr txBox="1"/>
          <p:nvPr/>
        </p:nvSpPr>
        <p:spPr>
          <a:xfrm>
            <a:off x="1325880" y="1417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Наличие работы, её формат и объём не связаны с успеваемостью и удовлетворённостью обучением, в том числе в панельном сравнении.</a:t>
            </a:r>
            <a:endParaRPr lang="en-US" sz="1700" dirty="0"/>
          </a:p>
        </p:txBody>
      </p:sp>
      <p:sp>
        <p:nvSpPr>
          <p:cNvPr id="6" name="badge 2"/>
          <p:cNvSpPr/>
          <p:nvPr/>
        </p:nvSpPr>
        <p:spPr>
          <a:xfrm>
            <a:off x="548640" y="27889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badge 2 text"/>
          <p:cNvSpPr txBox="1"/>
          <p:nvPr/>
        </p:nvSpPr>
        <p:spPr>
          <a:xfrm>
            <a:off x="5486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akeaway 2"/>
          <p:cNvSpPr txBox="1"/>
          <p:nvPr/>
        </p:nvSpPr>
        <p:spPr>
          <a:xfrm>
            <a:off x="1325880" y="2743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Субъективная польза работы для учёбы определяется прежде всего её соответствием специальности.</a:t>
            </a:r>
            <a:endParaRPr lang="en-US" sz="1700" dirty="0"/>
          </a:p>
        </p:txBody>
      </p:sp>
      <p:sp>
        <p:nvSpPr>
          <p:cNvPr id="9" name="badge 3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badge 3 text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akeaway 3"/>
          <p:cNvSpPr txBox="1"/>
          <p:nvPr/>
        </p:nvSpPr>
        <p:spPr>
          <a:xfrm>
            <a:off x="1325880" y="4069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Трудности совмещения выше при нагрузке свыше 20–30 ч/нед и при работе ради содержания себя.</a:t>
            </a:r>
            <a:endParaRPr lang="en-US" sz="1700" dirty="0"/>
          </a:p>
        </p:txBody>
      </p:sp>
      <p:sp>
        <p:nvSpPr>
          <p:cNvPr id="12" name="next steps card"/>
          <p:cNvSpPr/>
          <p:nvPr/>
        </p:nvSpPr>
        <p:spPr>
          <a:xfrm>
            <a:off x="7315200" y="1371600"/>
            <a:ext cx="4297680" cy="448056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3" name="next head"/>
          <p:cNvSpPr txBox="1"/>
          <p:nvPr/>
        </p:nvSpPr>
        <p:spPr>
          <a:xfrm>
            <a:off x="7589520" y="1600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Направления дальнейшего анализа</a:t>
            </a:r>
            <a:endParaRPr lang="en-US" sz="2000" dirty="0"/>
          </a:p>
        </p:txBody>
      </p:sp>
      <p:sp>
        <p:nvSpPr>
          <p:cNvPr id="14" name="next steps"/>
          <p:cNvSpPr txBox="1"/>
          <p:nvPr/>
        </p:nvSpPr>
        <p:spPr>
          <a:xfrm>
            <a:off x="7589520" y="214884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Панельные модели с фиксированными эффектами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Коррекция смещения, связанного с выбыванием (IPW)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Многоуровневые модели с учётом групп и вузов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Типология профилей занятости</a:t>
            </a:r>
            <a:endParaRPr lang="en-US" sz="1500" dirty="0"/>
          </a:p>
        </p:txBody>
      </p:sp>
      <p:sp>
        <p:nvSpPr>
          <p:cNvPr id="15" name="disclaimer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Результаты описывают связи и не позволяют делать причинных выводов.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Приложение: курение и успеваемость</a:t>
            </a:r>
            <a:endParaRPr lang="en-US" sz="3400" dirty="0"/>
          </a:p>
        </p:txBody>
      </p:sp>
      <p:graphicFrame>
        <p:nvGraphicFramePr>
          <p:cNvPr id="3" name="chart smoking" descr=""/>
          <p:cNvGraphicFramePr/>
          <p:nvPr/>
        </p:nvGraphicFramePr>
        <p:xfrm>
          <a:off x="548640" y="137160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value"/>
          <p:cNvSpPr txBox="1"/>
          <p:nvPr/>
        </p:nvSpPr>
        <p:spPr>
          <a:xfrm>
            <a:off x="8138160" y="1691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−0,4</a:t>
            </a:r>
            <a:endParaRPr lang="en-US" sz="4800" dirty="0"/>
          </a:p>
        </p:txBody>
      </p:sp>
      <p:sp>
        <p:nvSpPr>
          <p:cNvPr id="5" name="stat label"/>
          <p:cNvSpPr txBox="1"/>
          <p:nvPr/>
        </p:nvSpPr>
        <p:spPr>
          <a:xfrm>
            <a:off x="813816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балла — разница средней оценки курящих (−0,46 и −0,34 по волнам) при контроле пола, направления, занятости, достатка, спорта, сна и алкоголя</a:t>
            </a:r>
            <a:endParaRPr lang="en-US" sz="1400" dirty="0"/>
          </a:p>
        </p:txBody>
      </p:sp>
      <p:sp>
        <p:nvSpPr>
          <p:cNvPr id="6" name="smoking caveat"/>
          <p:cNvSpPr txBox="1"/>
          <p:nvPr/>
        </p:nvSpPr>
        <p:spPr>
          <a:xfrm>
            <a:off x="8138160" y="39319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Курение в 3-й волне не связано с последующим изменением оценок.</a:t>
            </a:r>
            <a:endParaRPr lang="en-US" sz="1500" dirty="0"/>
          </a:p>
        </p:txBody>
      </p:sp>
      <p:sp>
        <p:nvSpPr>
          <p:cNvPr id="7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Примечание: разведочный анализ, поправка Бенджамини–Хохберга.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КИВО: учёба и работа">
  <a:themeElements>
    <a:clrScheme name="КИВО: учёба и работа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2F6FD6"/>
      </a:accent1>
      <a:accent2>
        <a:srgbClr val="F28C28"/>
      </a:accent2>
      <a:accent3>
        <a:srgbClr val="E04848"/>
      </a:accent3>
      <a:accent4>
        <a:srgbClr val="7FAEEA"/>
      </a:accent4>
      <a:accent5>
        <a:srgbClr val="1B3F8F"/>
      </a:accent5>
      <a:accent6>
        <a:srgbClr val="595959"/>
      </a:accent6>
      <a:hlink>
        <a:srgbClr val="2F6FD6"/>
      </a:hlink>
      <a:folHlink>
        <a:srgbClr val="1B3F8F"/>
      </a:folHlink>
    </a:clrScheme>
    <a:fontScheme name="КИВО: учёба и работа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Учёба и работа: когда совмещение помогает, а когда мешает</dc:title>
  <dc:subject>PptxGenJS Presentation</dc:subject>
  <dc:creator>КИВО, команда хакатона</dc:creator>
  <cp:lastModifiedBy>КИВО, команда хакатона</cp:lastModifiedBy>
  <cp:revision>1</cp:revision>
  <dcterms:created xsi:type="dcterms:W3CDTF">2026-10-19T16:52:45Z</dcterms:created>
  <dcterms:modified xsi:type="dcterms:W3CDTF">2026-10-19T16:52:45Z</dcterms:modified>
</cp:coreProperties>
</file>